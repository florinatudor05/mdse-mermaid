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24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9A9AA-931E-BDCA-E89F-7F968613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04575-38CB-297B-01AB-3C75F737F9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C15E6-0678-DDEF-D056-5832BB1EB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F180F-3C3A-3381-D236-59F341F97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46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78B9-CC8F-F445-AEFF-C81F1CB9A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F64F8-0E9C-7FDC-63EA-AE2633141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09407-CB5F-A14A-A04C-84E0E325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9EA26-3872-6C75-9C8E-5E1CB26C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E7EBA-1270-3B1C-4AC4-F0264288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96316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8D1F-8FA5-EAC0-F985-FD695530E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0019-3D9E-E818-B329-2BD39499B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95991-7637-271D-B745-37492CF3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A7D90-5F4C-CC45-3EFA-B3B9F8F0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332E4-D7E4-7C57-A697-F93C20D2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401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6D9-02F2-8C8D-F389-FDCC32AF8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3C84C-1A22-4B23-8F88-CC7EEB3C7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A8CC-ECE3-C89B-A080-A262203F7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D315B-1173-88ED-A018-9DA439F85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87259-02B2-CF95-0979-929A4B5A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434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D14F-0ADA-8EDB-6F91-CA16A01B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575D4-B727-302F-7246-7C2CF64BA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35336-F0D9-0994-0E32-F01600CB3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48C53-5F12-9E08-9370-F16EA18C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3FA17-28BB-5729-9D05-6B8C12C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20277-F64B-B61F-14D0-47486A2F0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141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FFCF-75BE-D380-D33F-4741B4A6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E515-F486-BBFF-7C93-D766362AC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E1563-22DB-5A04-22C5-D4E715AF6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E4A02A-5746-DEEE-5E4F-51B0B79A8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6EAD0-3021-B09A-B922-F1CEEF6D2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88C3FA-7936-0996-80E9-DEA07262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F48BF-B72D-3123-78C1-678569079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1939D-7F3E-1B6A-C7B8-E36BE1C70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615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B59C-D67A-4142-225F-91F08066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C6C70-950D-377E-9CB3-7261E16A1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6DE5D-8333-7053-6E41-7A044913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49125-E14E-12B9-61B6-8C0E81CE9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9587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5A9EB-D486-7896-07F7-C569B55CA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78597-1ABD-A3AE-005B-4F1E1BF7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152FF-F23F-AC62-95B4-05DEEDBB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774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F012-3B9F-7CE7-C566-B5EB0AA71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EAFA5-DEBC-CA0A-CA58-CC06CCFCB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B313A-DA51-8476-6A91-992571FBA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D3FD7-CD92-4BE3-FA62-2F0E21D3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5AA49-DAFE-D146-3DAB-423D0F10F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6C0B6-EB9B-9FB1-98AB-1E6EB07D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8455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7C40-08AD-A71C-2D94-DB77ECF8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9A71A-6B6B-76F5-99A7-39759FE7B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5988A-F536-A7C7-E9B2-A46C76C20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357C7-6644-689E-0851-530A2ABB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07336-1597-5FEB-BC0D-36EBDDAC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220C1-A7FE-1691-BC1F-91DC3AA0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20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6E99-A9AF-EA9B-E3CB-E523DDCD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0B51F-461F-678E-E95D-0C63E6BC0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495D3-94E6-6680-D4F1-CB2EC337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B0F41-30A5-EDAB-39E7-B5486F5C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B6AA1-1F7B-8A89-C5E3-6AEE891F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560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8CE952-07D0-A362-F2DB-A854CE154E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DDAE8-C8FB-671B-C328-2ECE8727C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20D69-B556-38A4-7247-C2A5DC81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356FC-2C3B-82CB-A0F2-1A9B4FD7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F9E2-5ED3-A477-8484-7BD349C59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9928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22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54C228-B4BF-7A4B-B6A7-C5F03F5BA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C1959-5FC0-6654-365B-5E78594CB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25709-C12C-CFA3-9BE9-347FD985F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B1575-CD18-0AC1-A5EB-EAAF0AF85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9B443-218F-D1DE-A598-7104DADEA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26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0058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 Editing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Mermaid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827486" y="4592465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Nastase Maria Magdalena  ·  Tudor Florina Iuliana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7899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078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307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Mermaid? Diagrams as code.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" y="1819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Editing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031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files, operations, preview cycle, export.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51176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267004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70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" y="2615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28986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vs PlantUML vs graphical tools.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4360" y="346557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465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Flow Example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6941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Flowchart, sequence diagram, and syntax error demo.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42232"/>
            <a:ext cx="82296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4360" y="426110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261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44897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and tool selection guidance.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Diagrams as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artifact is text, not shapes drawn with mouse. Stored in version control like source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965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Mermaid 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2585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JavaScript-based renderer. Converts text syntax into SVG/PNG. Native to GitHub &amp; GitLab Markdown.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Mermaid Isn't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2186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MDE environment — no metamodel, constraints, or code transformations (unlike EMF/GME).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86200"/>
            <a:ext cx="54864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3886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Chose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41788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to study day-to-day editing: which editor, how preview works, error handling, and report export.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914400"/>
            <a:ext cx="3657600" cy="39776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Editing Environments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57800" y="150876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Preview extension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side-by-side 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260604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Editor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mermaid.live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Browser-based, no install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37033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49240" y="3749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(mmdc)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PNG/SVG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validation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Editing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/ Edit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371600"/>
            <a:ext cx="457200" cy="0"/>
          </a:xfrm>
          <a:prstGeom prst="line">
            <a:avLst/>
          </a:prstGeom>
          <a:noFill/>
          <a:ln w="19050">
            <a:solidFill>
              <a:srgbClr val="7BA7BC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914400"/>
            <a:ext cx="1463040" cy="9144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2024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457200" cy="0"/>
          </a:xfrm>
          <a:prstGeom prst="line">
            <a:avLst/>
          </a:prstGeom>
          <a:noFill/>
          <a:ln w="19050">
            <a:solidFill>
              <a:srgbClr val="7BA7BC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66160" y="914400"/>
            <a:ext cx="1463040" cy="914400"/>
          </a:xfrm>
          <a:prstGeom prst="rect">
            <a:avLst/>
          </a:prstGeom>
          <a:solidFill>
            <a:srgbClr val="1B2A3B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371600"/>
            <a:ext cx="457200" cy="0"/>
          </a:xfrm>
          <a:prstGeom prst="line">
            <a:avLst/>
          </a:prstGeom>
          <a:noFill/>
          <a:ln w="19050">
            <a:solidFill>
              <a:srgbClr val="7BA7BC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0" y="914400"/>
            <a:ext cx="1463040" cy="914400"/>
          </a:xfrm>
          <a:prstGeom prst="rect">
            <a:avLst/>
          </a:prstGeom>
          <a:solidFill>
            <a:srgbClr val="1B2A3B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Fix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1371600"/>
            <a:ext cx="457200" cy="0"/>
          </a:xfrm>
          <a:prstGeom prst="line">
            <a:avLst/>
          </a:prstGeom>
          <a:noFill/>
          <a:ln w="19050">
            <a:solidFill>
              <a:srgbClr val="7BA7BC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0" y="914400"/>
            <a:ext cx="1463040" cy="914400"/>
          </a:xfrm>
          <a:prstGeom prst="rect">
            <a:avLst/>
          </a:prstGeom>
          <a:solidFill>
            <a:srgbClr val="1B2A3B"/>
          </a:solidFill>
          <a:ln w="254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PNG / SVG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103120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Declare Type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2404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sets diagram type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(flowchart TD, sequenceDiagram…)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 if misspelled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2103120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54680" y="2103120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4612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Nodes &amp; Labels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404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stays stable; only label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brackets changes when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— links don't break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103120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103120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21214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/ Edges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24048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connection;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--&gt; for arrows, |label|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edge annotations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493008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Subgraphs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nodes visually;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Name["Label"]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...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54680" y="3493008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154680" y="3493008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4612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4612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classDef assigns colors/borders;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via class keyword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node identifiers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35040" y="3493008"/>
            <a:ext cx="2743200" cy="123444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5040" y="3493008"/>
            <a:ext cx="2743200" cy="274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2648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%% lines ignored by renderer;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author notes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code review context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3317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005840"/>
            <a:ext cx="21031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9748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Mermaid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2011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PlantUML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2011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9516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Graphical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1389888"/>
            <a:ext cx="23317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142646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51760" y="1389888"/>
            <a:ext cx="21031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15768" y="142646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npm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Java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389888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0328" y="142646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server/CLI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setup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49440" y="1389888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13448" y="142646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installer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free/paid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1965960"/>
            <a:ext cx="23317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" y="2002536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Markdown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1965960"/>
            <a:ext cx="21031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15768" y="2002536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support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965960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0328" y="200253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plugin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1965960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13448" y="200253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image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2542032"/>
            <a:ext cx="23317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2578608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Notation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51760" y="2542032"/>
            <a:ext cx="21031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15768" y="2578608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/ informal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542032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0328" y="2578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standard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2542032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13448" y="257860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Freehand / formal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3118104"/>
            <a:ext cx="23317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" y="315468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51760" y="3118104"/>
            <a:ext cx="21031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15768" y="3154680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Git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friendly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118104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10328" y="31546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Git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friendly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49440" y="3118104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13448" y="31546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proprietary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3694176"/>
            <a:ext cx="23317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2608" y="3730752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Types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51760" y="3694176"/>
            <a:ext cx="210312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15768" y="3730752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set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3694176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10328" y="37307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949440" y="3694176"/>
            <a:ext cx="2011680" cy="576072"/>
          </a:xfrm>
          <a:prstGeom prst="rect">
            <a:avLst/>
          </a:prstGeom>
          <a:solidFill>
            <a:srgbClr val="1B2A3B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13448" y="373075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(mouse)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4270248"/>
            <a:ext cx="23317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92608" y="4306824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51760" y="4270248"/>
            <a:ext cx="210312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15768" y="430682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quick start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46320" y="4270248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910328" y="430682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9440" y="4270248"/>
            <a:ext cx="2011680" cy="576072"/>
          </a:xfrm>
          <a:prstGeom prst="rect">
            <a:avLst/>
          </a:prstGeom>
          <a:solidFill>
            <a:srgbClr val="0D1B2A"/>
          </a:solidFill>
          <a:ln w="63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13448" y="430682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for drawing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for large teams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Work: Login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978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 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02336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978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673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actor U as 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participant W as Web App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participant A as Auth Service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U-&gt;&gt;W: POST /api/login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W-&gt;&gt;A: validate(credentials)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alt valid credentials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A--&gt;&gt;W: JWT token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invalid credentials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W--&gt;&gt;U: Show error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A5AD706-1D28-5474-AFE2-90342C96B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1308"/>
            <a:ext cx="4049409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F3198-0502-C1CC-A9C5-0464D0B4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FEAC4C-E258-6A73-2654-CB93D3A7C9B1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CAAAC1-ED63-EDC7-BC24-A7FFE67AEC84}"/>
              </a:ext>
            </a:extLst>
          </p:cNvPr>
          <p:cNvSpPr/>
          <p:nvPr/>
        </p:nvSpPr>
        <p:spPr>
          <a:xfrm>
            <a:off x="365760" y="18142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Work: Login Flow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ADEB503-6F28-A3EC-B0F2-08703562DA32}"/>
              </a:ext>
            </a:extLst>
          </p:cNvPr>
          <p:cNvSpPr/>
          <p:nvPr/>
        </p:nvSpPr>
        <p:spPr>
          <a:xfrm>
            <a:off x="274320" y="960120"/>
            <a:ext cx="402336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933828-DDB7-E6A3-D43F-449382020BA0}"/>
              </a:ext>
            </a:extLst>
          </p:cNvPr>
          <p:cNvSpPr/>
          <p:nvPr/>
        </p:nvSpPr>
        <p:spPr>
          <a:xfrm>
            <a:off x="274320" y="96012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8F6877-8C7B-34E7-267F-A2135897EC3D}"/>
              </a:ext>
            </a:extLst>
          </p:cNvPr>
          <p:cNvSpPr/>
          <p:nvPr/>
        </p:nvSpPr>
        <p:spPr>
          <a:xfrm>
            <a:off x="365760" y="978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 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ABA394-2F04-1C9F-1942-34E8C9536FCE}"/>
              </a:ext>
            </a:extLst>
          </p:cNvPr>
          <p:cNvSpPr/>
          <p:nvPr/>
        </p:nvSpPr>
        <p:spPr>
          <a:xfrm>
            <a:off x="36576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flowchart TD</a:t>
            </a:r>
            <a:endParaRPr lang="en-US" sz="9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6DC48F-CCDD-6D43-1420-59B629EF7792}"/>
              </a:ext>
            </a:extLst>
          </p:cNvPr>
          <p:cNvSpPr/>
          <p:nvPr/>
        </p:nvSpPr>
        <p:spPr>
          <a:xfrm>
            <a:off x="365760" y="1673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A([User])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10CE6FE-EA67-536B-5E05-54746B60B4B8}"/>
              </a:ext>
            </a:extLst>
          </p:cNvPr>
          <p:cNvSpPr/>
          <p:nvPr/>
        </p:nvSpPr>
        <p:spPr>
          <a:xfrm>
            <a:off x="365760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B[Login Page]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59C2D1-CAF4-E570-84AA-1656E0FF5D9B}"/>
              </a:ext>
            </a:extLst>
          </p:cNvPr>
          <p:cNvSpPr/>
          <p:nvPr/>
        </p:nvSpPr>
        <p:spPr>
          <a:xfrm>
            <a:off x="365760" y="2276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C{Valid credentials?}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3937681-641D-FE79-000F-78AADFDDFD04}"/>
              </a:ext>
            </a:extLst>
          </p:cNvPr>
          <p:cNvSpPr/>
          <p:nvPr/>
        </p:nvSpPr>
        <p:spPr>
          <a:xfrm>
            <a:off x="365760" y="2578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subgraph Auth["Auth Service"]</a:t>
            </a:r>
            <a:endParaRPr lang="en-US" sz="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29777F8-1161-10E7-8225-14D14814B441}"/>
              </a:ext>
            </a:extLst>
          </p:cNvPr>
          <p:cNvSpPr/>
          <p:nvPr/>
        </p:nvSpPr>
        <p:spPr>
          <a:xfrm>
            <a:off x="36576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6C60BD-D09A-024D-C856-E01D0A41FF73}"/>
              </a:ext>
            </a:extLst>
          </p:cNvPr>
          <p:cNvSpPr/>
          <p:nvPr/>
        </p:nvSpPr>
        <p:spPr>
          <a:xfrm>
            <a:off x="365760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9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24687B0-69DD-5DEB-310A-F137FD4D74DC}"/>
              </a:ext>
            </a:extLst>
          </p:cNvPr>
          <p:cNvSpPr/>
          <p:nvPr/>
        </p:nvSpPr>
        <p:spPr>
          <a:xfrm>
            <a:off x="365760" y="34838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--&gt; B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E208C9-1206-D0AA-E65A-E27B2DBD57DA}"/>
              </a:ext>
            </a:extLst>
          </p:cNvPr>
          <p:cNvSpPr/>
          <p:nvPr/>
        </p:nvSpPr>
        <p:spPr>
          <a:xfrm>
            <a:off x="365760" y="3785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C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--&gt; C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D819BF-F4BF-480D-5040-079B48019B73}"/>
              </a:ext>
            </a:extLst>
          </p:cNvPr>
          <p:cNvSpPr/>
          <p:nvPr/>
        </p:nvSpPr>
        <p:spPr>
          <a:xfrm>
            <a:off x="365760" y="4087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--&gt;|yes| D[Create Session]</a:t>
            </a: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4664F86-7B16-4E52-BA6A-334EAA684561}"/>
              </a:ext>
            </a:extLst>
          </p:cNvPr>
          <p:cNvSpPr/>
          <p:nvPr/>
        </p:nvSpPr>
        <p:spPr>
          <a:xfrm>
            <a:off x="36576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--&gt;|no| E[Show Error]</a:t>
            </a:r>
            <a:endParaRPr lang="en-US" sz="9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C078A2B-846E-ADC2-273A-FD2C8829BC7D}"/>
              </a:ext>
            </a:extLst>
          </p:cNvPr>
          <p:cNvSpPr/>
          <p:nvPr/>
        </p:nvSpPr>
        <p:spPr>
          <a:xfrm>
            <a:off x="4937760" y="9784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 Diagram</a:t>
            </a:r>
            <a:endParaRPr lang="en-US" sz="10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F1A320C-F1C2-5993-2013-E747E5AC1A5B}"/>
              </a:ext>
            </a:extLst>
          </p:cNvPr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ED650409-6759-44ED-C54C-1FEE5044B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086" y="965640"/>
            <a:ext cx="2300132" cy="3774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765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Syntax Error During Editing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349240" y="1005840"/>
            <a:ext cx="347472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58968" y="10607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Feedback 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58968" y="133502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reports errors immediately when the file is saved — similar to a compiler error.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49240" y="2011680"/>
            <a:ext cx="347472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58968" y="2066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Line Matters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58968" y="234086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type keyword on line 1 must be exact. One typo stops rendering entirely.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3017520"/>
            <a:ext cx="347472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58968" y="30723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58968" y="334670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mmdc in a build pipeline to fail the build if any diagram cannot render — catch errors before publishing.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4023360"/>
            <a:ext cx="347472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58968" y="407822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 Iteration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58968" y="4352544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 error cycle encourages small, frequent edits rather than big-bang changes.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628DDA-95B7-7065-9803-6BD807744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46" y="1061030"/>
            <a:ext cx="2651853" cy="37230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Difficulties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097280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Crossing Edges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many nodes, the automatic dagre layout may draw crossing edges. Optional ELK layout engine exists but requires extra configuration.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18888" y="109728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93208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Automatic Message Numbering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 lack automatic step numbering. PlantUML provides this out of the box, which is useful for formal documentation.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423160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Characters in Labels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like slashes (e.g., /api/login) must be quoted or escaped. Easy to overlook and causes unexpected parse errors.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18888" y="2423160"/>
            <a:ext cx="182880" cy="1828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93208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 Diagram Readability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697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is excellent for small-to-medium diagrams. Very large graphs become hard to manage without switching to a dedicated modeling tool.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74904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C4 Architecture Support Still Evolving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4023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architecture diagram features are not yet mature. Some authors prefer PlantUML or dedicated tools for enterprise architecture diagrams.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18888" y="3749040"/>
            <a:ext cx="182880" cy="1828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93208" y="3721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Layout Control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40233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graphical tools (Visio, Lucidchart), node placement is fully automatic. Precise positioning for formal deliverables is not possible.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38862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7840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Mermaid when…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63624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appear in GitHub / GitLab Markdown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8541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2130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quick start — no Java or server 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807208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752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and sequence diagrams are sufficient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4290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3741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diff and code review workflow is required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5079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 small teams with simple documentation needs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206240" cy="38862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97840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PlantUML when…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563624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48072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UML notation compliance is required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185416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48072" y="21305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sequence diagram features (numbered msgs, frames)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807208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48072" y="27523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set of diagram types needed in one toolchain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429000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48072" y="33741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already has Java in the build environment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050792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48072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enterprise architecture models (C4, etc.)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46888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864608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Choose by purpose, not by ranking. Both tools keep diagrams as text in Git — a foundation for maintainable, reviewable documentation.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11455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</TotalTime>
  <Words>904</Words>
  <Application>Microsoft Office PowerPoint</Application>
  <PresentationFormat>On-screen Show (16:9)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 Editing with Mermaid</dc:title>
  <dc:subject>PptxGenJS Presentation</dc:subject>
  <dc:creator>Nastase Maria Magdalena &amp; Tudor Florina Iuliana</dc:creator>
  <cp:lastModifiedBy>Maria-Magdalena NĂSTASE (124909)</cp:lastModifiedBy>
  <cp:revision>2</cp:revision>
  <dcterms:created xsi:type="dcterms:W3CDTF">2026-05-25T15:49:53Z</dcterms:created>
  <dcterms:modified xsi:type="dcterms:W3CDTF">2026-05-25T16:23:22Z</dcterms:modified>
</cp:coreProperties>
</file>